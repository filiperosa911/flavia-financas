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Sua Carteira (%)</c:v>
                </c:pt>
              </c:strCache>
            </c:strRef>
          </c:tx>
          <c:spPr>
            <a:solidFill>
              <a:srgbClr val="C8972E"/>
            </a:solidFill>
            <a:ln w="31750" cap="flat">
              <a:solidFill>
                <a:srgbClr val="C89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972E"/>
              </a:solidFill>
              <a:ln w="9525" cap="flat">
                <a:solidFill>
                  <a:srgbClr val="C89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Jun/25</c:v>
                  </c:pt>
                  <c:pt idx="1">
                    <c:v>Jul/25</c:v>
                  </c:pt>
                  <c:pt idx="2">
                    <c:v>Ago/25</c:v>
                  </c:pt>
                  <c:pt idx="3">
                    <c:v>Set/25</c:v>
                  </c:pt>
                  <c:pt idx="4">
                    <c:v>Out/25</c:v>
                  </c:pt>
                  <c:pt idx="5">
                    <c:v>Nov/25</c:v>
                  </c:pt>
                  <c:pt idx="6">
                    <c:v>Dez/25</c:v>
                  </c:pt>
                  <c:pt idx="7">
                    <c:v>Jan/26</c:v>
                  </c:pt>
                  <c:pt idx="8">
                    <c:v>Fev/26</c:v>
                  </c:pt>
                  <c:pt idx="9">
                    <c:v>Mar/26</c:v>
                  </c:pt>
                  <c:pt idx="10">
                    <c:v>Abr/26</c:v>
                  </c:pt>
                  <c:pt idx="11">
                    <c:v>Mai/26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1.65</c:v>
                </c:pt>
                <c:pt idx="1">
                  <c:v>0.25</c:v>
                </c:pt>
                <c:pt idx="2">
                  <c:v>1.54</c:v>
                </c:pt>
                <c:pt idx="3">
                  <c:v>2.07</c:v>
                </c:pt>
                <c:pt idx="4">
                  <c:v>0.83</c:v>
                </c:pt>
                <c:pt idx="5">
                  <c:v>1.06</c:v>
                </c:pt>
                <c:pt idx="6">
                  <c:v>0.84</c:v>
                </c:pt>
                <c:pt idx="7">
                  <c:v>1.62</c:v>
                </c:pt>
                <c:pt idx="8">
                  <c:v>0.68</c:v>
                </c:pt>
                <c:pt idx="9">
                  <c:v>-1.68</c:v>
                </c:pt>
                <c:pt idx="10">
                  <c:v>2.14</c:v>
                </c:pt>
                <c:pt idx="11">
                  <c:v>0.48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CDI (%)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Jun/25</c:v>
                  </c:pt>
                  <c:pt idx="1">
                    <c:v>Jul/25</c:v>
                  </c:pt>
                  <c:pt idx="2">
                    <c:v>Ago/25</c:v>
                  </c:pt>
                  <c:pt idx="3">
                    <c:v>Set/25</c:v>
                  </c:pt>
                  <c:pt idx="4">
                    <c:v>Out/25</c:v>
                  </c:pt>
                  <c:pt idx="5">
                    <c:v>Nov/25</c:v>
                  </c:pt>
                  <c:pt idx="6">
                    <c:v>Dez/25</c:v>
                  </c:pt>
                  <c:pt idx="7">
                    <c:v>Jan/26</c:v>
                  </c:pt>
                  <c:pt idx="8">
                    <c:v>Fev/26</c:v>
                  </c:pt>
                  <c:pt idx="9">
                    <c:v>Mar/26</c:v>
                  </c:pt>
                  <c:pt idx="10">
                    <c:v>Abr/26</c:v>
                  </c:pt>
                  <c:pt idx="11">
                    <c:v>Mai/26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1.1</c:v>
                </c:pt>
                <c:pt idx="1">
                  <c:v>1.28</c:v>
                </c:pt>
                <c:pt idx="2">
                  <c:v>1.16</c:v>
                </c:pt>
                <c:pt idx="3">
                  <c:v>1.22</c:v>
                </c:pt>
                <c:pt idx="4">
                  <c:v>1.28</c:v>
                </c:pt>
                <c:pt idx="5">
                  <c:v>1.05</c:v>
                </c:pt>
                <c:pt idx="6">
                  <c:v>1.22</c:v>
                </c:pt>
                <c:pt idx="7">
                  <c:v>1.16</c:v>
                </c:pt>
                <c:pt idx="8">
                  <c:v>1</c:v>
                </c:pt>
                <c:pt idx="9">
                  <c:v>1.21</c:v>
                </c:pt>
                <c:pt idx="10">
                  <c:v>1.09</c:v>
                </c:pt>
                <c:pt idx="11">
                  <c:v>0.43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Composição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A6B"/>
              </a:solidFill>
              <a:effectLst/>
            </c:spPr>
          </c:dPt>
          <c:dPt>
            <c:idx val="1"/>
            <c:bubble3D val="0"/>
            <c:spPr>
              <a:solidFill>
                <a:srgbClr val="C8972E"/>
              </a:solidFill>
              <a:effectLst/>
            </c:spPr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0369A1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Renda Fixa</c:v>
                </c:pt>
                <c:pt idx="1">
                  <c:v>Multimercado</c:v>
                </c:pt>
                <c:pt idx="2">
                  <c:v>Renda Variável</c:v>
                </c:pt>
                <c:pt idx="3">
                  <c:v>Op. Estruturadas</c:v>
                </c:pt>
                <c:pt idx="4">
                  <c:v>Previdência</c:v>
                </c:pt>
                <c:pt idx="5">
                  <c:v>Corretora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48.72</c:v>
                </c:pt>
                <c:pt idx="1">
                  <c:v>25.35</c:v>
                </c:pt>
                <c:pt idx="2">
                  <c:v>4.43</c:v>
                </c:pt>
                <c:pt idx="3">
                  <c:v>7.35</c:v>
                </c:pt>
                <c:pt idx="4">
                  <c:v>5.25</c:v>
                </c:pt>
                <c:pt idx="5">
                  <c:v>8.9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274320"/>
            <a:ext cx="3200400" cy="3200400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 INVEST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Carteira em Foco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completa dos seus investimentos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743200" cy="36576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Juliana B. Machado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Posição: 13 de maio de 2026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3840480" cy="914400"/>
          </a:xfrm>
          <a:prstGeom prst="rect">
            <a:avLst/>
          </a:prstGeom>
          <a:solidFill>
            <a:srgbClr val="1A3A6B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Total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40690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R$ 415.709,91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CARTEIRA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011680" cy="914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Bruto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R$ 415.710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13/05/2026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43000"/>
            <a:ext cx="201168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42032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Rentab. no Mês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42032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+0,48%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42032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111% do CDI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1430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1143000"/>
            <a:ext cx="201168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18304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Rentab. no Ano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18304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+3,23%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18304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do CDI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03136" y="11430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143000"/>
            <a:ext cx="20116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94576" y="1627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Rentab. 12 Meses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94576" y="190195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+12,02%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94576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do CDI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154680"/>
            <a:ext cx="8595360" cy="15727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154680"/>
            <a:ext cx="109728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24612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 que isso significa para você?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36118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carteira rendeu </a:t>
            </a:r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R$ 46.710,91 </a:t>
            </a:r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valor aplicado nos últimos 12 meses. Você está com o patrimônio crescendo consistentemente. </a:t>
            </a:r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últimos 30 dias, seu dinheiro rendeu mais rápido do que o CDI — o benchmark do mercado.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OS DOIS NÚMEROS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1097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MARCAÇÃO NA CURVA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 no seu extrato do banco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ler o marcador de km do carro em plena estrada — mostra a velocidade contratada, sem sentir os soluços do trânsito.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acumulada: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+14,68%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104,71% do CDI em 12 meses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(extrato):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R$ 426.920,24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402336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234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MARCAÇÃO A MERCADO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se você vendesse tudo HOJE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19202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como ver a cotação do imóvel hoje — o mercado balança, mas o valor real você realiza só na venda.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acumulada: </a:t>
            </a:r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+12,02%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85,70% do CDI em 12 meses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real: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R$ 415.709,91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78231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 diferença entre os dois existe porque alguns ativos oscilam com o mercado — isso é normal e esperado na sua carteira.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SEU PATRIMÔNIO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8595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Em março/26 houve queda pontual (-1,68%) devido à marcação a mercado — o CDI também sentiu. Nos outros meses a carteira superou ou equiparou o benchmark.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SEU DINHEIRO ESTÁ DISTRIBUÍDO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4389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937760" y="109728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937760" y="1097280"/>
            <a:ext cx="91440" cy="5486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102352" y="1133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Renda Fixa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102352" y="137160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sólida e segura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406640" y="114300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48,72%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06640" y="137160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R$ 202.541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937760" y="17099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37760" y="1709928"/>
            <a:ext cx="91440" cy="54864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02352" y="17465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Multimercado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102352" y="198424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e gestão ativa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406640" y="17556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25,35%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406640" y="19842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R$ 105.370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937760" y="232257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937760" y="2322576"/>
            <a:ext cx="91440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02352" y="235915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⚫  Corretora (FIIs+ETF)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102352" y="2596896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passiva mensal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406640" y="236829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8,90%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06640" y="2596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R$ 37.004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937760" y="2935224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937760" y="2935224"/>
            <a:ext cx="914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02352" y="2971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Op. Estruturadas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102352" y="3209544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com upside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06640" y="2980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7,35%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406640" y="32095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R$ 30.572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937760" y="3547872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937760" y="3547872"/>
            <a:ext cx="91440" cy="5486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02352" y="35844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Previdência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102352" y="382219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 + eficiência fiscal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406640" y="359359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5,25%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406640" y="38221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R$ 21.811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937760" y="41605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937760" y="4160520"/>
            <a:ext cx="9144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102352" y="41970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Renda Variável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102352" y="44348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valorização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406640" y="420624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4,43%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406640" y="443484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R$ 18.410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 DE RENTABILIDADE POR PRODUTO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828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Atual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 Trisul CDI+1,15%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Fixa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+18,99%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R$ 16.168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Agilite FI RF 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Fixa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+13,99%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R$ 74.542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Safra Vitesse FI RF 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Fixa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+14,04%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R$ 24.552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Artesanal Crédito Priv FIM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Multimercado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+17,09%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R$ 22.481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S&amp;P Reais FICMM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Multimercado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+35,46% 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R$ 32.405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Kepler FIM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Multimercado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+15,13%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  8.008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Absolute Pace LB FIA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Renda Variável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+21,52%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R$ 18.411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 Call XP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+15,80%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R$ 30.572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C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MCCI11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+30,34% 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F2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    770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= rendimento excepcional no período   ✅ = acima do CDI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 E TRANSPARÊNCIA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859536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24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Suitability Desenquadrado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99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perfil cadastrado (Conservador) está diferente da carteira atual (Moderado). Precisamos regularizar isso no sistema Safra — é uma atualização simples que reflete a realidade dos seus investimentos.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039112"/>
            <a:ext cx="8595360" cy="8686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0848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CRA IPCA (Raízen) — Marcação a Mercado Negativa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59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ativo mostra -49,31% na marcação a mercado (valor se vendesse hoje). Isso acontece porque as taxas subiram no mercado. Mas atenção: o ativo paga IPCA+7,35% e você recebe isso normalmente. O valor volta conforme o vencimento (out/2030) se aproxima.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999232"/>
            <a:ext cx="859536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3044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Debêntures Ecorodovias — Leve Queda no Mês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3192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Caiu -0,14% em maio. Isso é normal para debêntures IPCA em cenário de juros altos. A taxa contratada é IPCA+6,99% e o ativo paga bem no longo prazo (venc. 2034).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959352"/>
            <a:ext cx="859536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Letra Crédito Agro (ABC Brasil) — Vence Outubro/2026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279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 em out/2026 — já rendeu 8,67% em 12 meses. Ótimo momento para planejarmos onde realocar esse recurso quando vencer.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RECOMENDADOS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261872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61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Regularizar o Suitability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o perfil para Moderado — alinhando ao que você já tem investido. Processo simples, feito pelo assessor.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10515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261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4114800" cy="9144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182112"/>
            <a:ext cx="438912" cy="438912"/>
          </a:xfrm>
          <a:prstGeom prst="ellipse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182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1821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o vencimento da LCA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6118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Letra de Crédito Agro (ABC Brasil) vence em out/2026. Ótimo momento para avaliar novas oportunidades com isenção de IR.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3182112"/>
            <a:ext cx="1051560" cy="2743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18211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Out/2026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10972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097280"/>
            <a:ext cx="4114800" cy="914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56048" y="1261872"/>
            <a:ext cx="438912" cy="43891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261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1261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CRA Raízen (IPCA)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1691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Decidir: manter até o vencimento (out/2030) para recuperar valor via cupons, ou avaliar troca por ativo mais líquido.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0" y="1261872"/>
            <a:ext cx="105156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126187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Próx. reunião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017520"/>
            <a:ext cx="41148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3182112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182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31821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carteira de FIIs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6118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carteira de fundos imobiliários representa apenas 1,6% do portfólio. Se o objetivo for renda passiva, pode ser ampliada de forma estratégica.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772400" y="3182112"/>
            <a:ext cx="10515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318211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286000"/>
            <a:ext cx="4114800" cy="4114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SAFRA INVEST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carteira está no caminho certo. 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1783080"/>
            <a:ext cx="2743200" cy="45720"/>
          </a:xfrm>
          <a:prstGeom prst="rect">
            <a:avLst/>
          </a:prstGeom>
          <a:solidFill>
            <a:srgbClr val="C8972E"/>
          </a:solidFill>
          <a:ln w="12700">
            <a:solidFill>
              <a:srgbClr val="C89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96596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Patrimônio de R$ 415.710 com 12,02% de rentabilidade em 12 meses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244144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Carteira diversificada em 6 classes de ativos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71600" y="2916936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Fundo S&amp;P Reais rendeu +35,46% — destaque do portfólio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71600" y="3392424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CRI Trisul rendendo 18,99% — solidez em renda fixa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71600" y="386791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FII MCCI11 com +30,34% nos últimos 12 meses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44074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Agendemos nossa próxima revisão para continuar evoluindo juntas!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 da Carteira - Juliana Machado</dc:title>
  <dc:subject>PptxGenJS Presentation</dc:subject>
  <dc:creator>PptxGenJS</dc:creator>
  <cp:lastModifiedBy>PptxGenJS</cp:lastModifiedBy>
  <cp:revision>1</cp:revision>
  <dcterms:created xsi:type="dcterms:W3CDTF">2026-05-14T13:35:20Z</dcterms:created>
  <dcterms:modified xsi:type="dcterms:W3CDTF">2026-05-14T13:35:20Z</dcterms:modified>
</cp:coreProperties>
</file>